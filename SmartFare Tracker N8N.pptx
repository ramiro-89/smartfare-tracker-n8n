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70" r:id="rId9"/>
    <p:sldId id="262" r:id="rId10"/>
    <p:sldId id="263" r:id="rId11"/>
    <p:sldId id="264" r:id="rId12"/>
  </p:sldIdLst>
  <p:sldSz cx="18288000" cy="10287000"/>
  <p:notesSz cx="6858000" cy="9144000"/>
  <p:embeddedFontLst>
    <p:embeddedFont>
      <p:font typeface="Bricolage Grotesque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5" autoAdjust="0"/>
    <p:restoredTop sz="88526" autoAdjust="0"/>
  </p:normalViewPr>
  <p:slideViewPr>
    <p:cSldViewPr>
      <p:cViewPr varScale="1">
        <p:scale>
          <a:sx n="61" d="100"/>
          <a:sy n="61" d="100"/>
        </p:scale>
        <p:origin x="99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56B0F-20BA-46A7-8DCE-AD48D4A04B30}" type="datetimeFigureOut">
              <a:rPr lang="es-AR" smtClean="0"/>
              <a:t>4/6/2026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80463-32EA-4743-80FE-AA25F34BA1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6352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ICONO OLLAMA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80463-32EA-4743-80FE-AA25F34BA132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989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QR GITHUB</a:t>
            </a:r>
          </a:p>
          <a:p>
            <a:r>
              <a:rPr lang="en-CA" dirty="0"/>
              <a:t>FOTO PERSONAL </a:t>
            </a:r>
          </a:p>
          <a:p>
            <a:r>
              <a:rPr lang="en-CA" dirty="0"/>
              <a:t>FOTO CELU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80463-32EA-4743-80FE-AA25F34BA132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172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120515" y="6829698"/>
            <a:ext cx="1204697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 noProof="0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4976746"/>
            <a:ext cx="333507" cy="333507"/>
          </a:xfrm>
          <a:custGeom>
            <a:avLst/>
            <a:gdLst/>
            <a:ahLst/>
            <a:cxnLst/>
            <a:rect l="l" t="t" r="r" b="b"/>
            <a:pathLst>
              <a:path w="333507" h="333507">
                <a:moveTo>
                  <a:pt x="0" y="0"/>
                </a:moveTo>
                <a:lnTo>
                  <a:pt x="333507" y="0"/>
                </a:lnTo>
                <a:lnTo>
                  <a:pt x="333507" y="333508"/>
                </a:lnTo>
                <a:lnTo>
                  <a:pt x="0" y="333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4" name="Freeform 4"/>
          <p:cNvSpPr/>
          <p:nvPr/>
        </p:nvSpPr>
        <p:spPr>
          <a:xfrm>
            <a:off x="16922784" y="4976746"/>
            <a:ext cx="333507" cy="333507"/>
          </a:xfrm>
          <a:custGeom>
            <a:avLst/>
            <a:gdLst/>
            <a:ahLst/>
            <a:cxnLst/>
            <a:rect l="l" t="t" r="r" b="b"/>
            <a:pathLst>
              <a:path w="333507" h="333507">
                <a:moveTo>
                  <a:pt x="0" y="0"/>
                </a:moveTo>
                <a:lnTo>
                  <a:pt x="333507" y="0"/>
                </a:lnTo>
                <a:lnTo>
                  <a:pt x="333507" y="333508"/>
                </a:lnTo>
                <a:lnTo>
                  <a:pt x="0" y="333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>
              <a:latin typeface="+mj-lt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120515" y="3457302"/>
            <a:ext cx="1204697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 noProof="0" dirty="0">
              <a:latin typeface="+mj-l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04523" y="3643236"/>
            <a:ext cx="10278954" cy="310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s-AR" sz="6716" b="1" spc="-355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SMARTFARE TRACKER N8N:</a:t>
            </a:r>
          </a:p>
          <a:p>
            <a:pPr marL="0" lvl="0" indent="0" algn="ctr"/>
            <a:r>
              <a:rPr lang="es-AR" sz="6716" b="1" spc="-355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MONITOREO 24/7 DE PRECIOS DE VUELOS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81135" y="1020434"/>
            <a:ext cx="6525730" cy="1603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s-AR" sz="5211" b="1" spc="-27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Tecnicatura Superior en Ciencia de Datos e 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20548" y="8754639"/>
            <a:ext cx="7341723" cy="633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3"/>
              </a:lnSpc>
            </a:pPr>
            <a:r>
              <a:rPr lang="es-AR" sz="2815" b="1" spc="-149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SEMINARIO DE ACTUALIZACIÓN / AUTOMATIZACIÓN 2026</a:t>
            </a:r>
          </a:p>
        </p:txBody>
      </p:sp>
      <p:sp>
        <p:nvSpPr>
          <p:cNvPr id="9" name="Freeform 9"/>
          <p:cNvSpPr/>
          <p:nvPr/>
        </p:nvSpPr>
        <p:spPr>
          <a:xfrm rot="5400000">
            <a:off x="-138681" y="768082"/>
            <a:ext cx="2946532" cy="3062897"/>
          </a:xfrm>
          <a:custGeom>
            <a:avLst/>
            <a:gdLst/>
            <a:ahLst/>
            <a:cxnLst/>
            <a:rect l="l" t="t" r="r" b="b"/>
            <a:pathLst>
              <a:path w="2946532" h="3062897">
                <a:moveTo>
                  <a:pt x="0" y="0"/>
                </a:moveTo>
                <a:lnTo>
                  <a:pt x="2946532" y="0"/>
                </a:lnTo>
                <a:lnTo>
                  <a:pt x="2946532" y="3062897"/>
                </a:lnTo>
                <a:lnTo>
                  <a:pt x="0" y="3062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0" name="Freeform 10"/>
          <p:cNvSpPr/>
          <p:nvPr/>
        </p:nvSpPr>
        <p:spPr>
          <a:xfrm>
            <a:off x="1067700" y="5752102"/>
            <a:ext cx="2967373" cy="3613239"/>
          </a:xfrm>
          <a:custGeom>
            <a:avLst/>
            <a:gdLst/>
            <a:ahLst/>
            <a:cxnLst/>
            <a:rect l="l" t="t" r="r" b="b"/>
            <a:pathLst>
              <a:path w="2967373" h="3613239">
                <a:moveTo>
                  <a:pt x="0" y="0"/>
                </a:moveTo>
                <a:lnTo>
                  <a:pt x="2967373" y="0"/>
                </a:lnTo>
                <a:lnTo>
                  <a:pt x="2967373" y="3613239"/>
                </a:lnTo>
                <a:lnTo>
                  <a:pt x="0" y="3613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Freeform 11"/>
          <p:cNvSpPr/>
          <p:nvPr/>
        </p:nvSpPr>
        <p:spPr>
          <a:xfrm rot="-5400000">
            <a:off x="14409132" y="7156491"/>
            <a:ext cx="2946532" cy="3069304"/>
          </a:xfrm>
          <a:custGeom>
            <a:avLst/>
            <a:gdLst/>
            <a:ahLst/>
            <a:cxnLst/>
            <a:rect l="l" t="t" r="r" b="b"/>
            <a:pathLst>
              <a:path w="2946532" h="3069304">
                <a:moveTo>
                  <a:pt x="0" y="0"/>
                </a:moveTo>
                <a:lnTo>
                  <a:pt x="2946532" y="0"/>
                </a:lnTo>
                <a:lnTo>
                  <a:pt x="2946532" y="3069305"/>
                </a:lnTo>
                <a:lnTo>
                  <a:pt x="0" y="30693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2" name="Freeform 12"/>
          <p:cNvSpPr/>
          <p:nvPr/>
        </p:nvSpPr>
        <p:spPr>
          <a:xfrm rot="-10800000">
            <a:off x="15565689" y="-89190"/>
            <a:ext cx="2946065" cy="2972070"/>
          </a:xfrm>
          <a:custGeom>
            <a:avLst/>
            <a:gdLst/>
            <a:ahLst/>
            <a:cxnLst/>
            <a:rect l="l" t="t" r="r" b="b"/>
            <a:pathLst>
              <a:path w="2946065" h="2972070">
                <a:moveTo>
                  <a:pt x="0" y="0"/>
                </a:moveTo>
                <a:lnTo>
                  <a:pt x="2946065" y="0"/>
                </a:lnTo>
                <a:lnTo>
                  <a:pt x="2946065" y="2972070"/>
                </a:lnTo>
                <a:lnTo>
                  <a:pt x="0" y="29720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5520548" y="7378818"/>
            <a:ext cx="7341723" cy="355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3"/>
              </a:lnSpc>
            </a:pPr>
            <a:r>
              <a:rPr lang="es-AR" sz="3600" b="1" spc="-149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RAMIRO OTTONE VILLAR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4924437" y="1028700"/>
            <a:ext cx="0" cy="822960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" name="AutoShape 3"/>
          <p:cNvSpPr/>
          <p:nvPr/>
        </p:nvSpPr>
        <p:spPr>
          <a:xfrm flipV="1">
            <a:off x="10551938" y="1028700"/>
            <a:ext cx="0" cy="822960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4" name="Freeform 4"/>
          <p:cNvSpPr/>
          <p:nvPr/>
        </p:nvSpPr>
        <p:spPr>
          <a:xfrm>
            <a:off x="1028700" y="7742326"/>
            <a:ext cx="1515974" cy="1515974"/>
          </a:xfrm>
          <a:custGeom>
            <a:avLst/>
            <a:gdLst/>
            <a:ahLst/>
            <a:cxnLst/>
            <a:rect l="l" t="t" r="r" b="b"/>
            <a:pathLst>
              <a:path w="1515974" h="1515974">
                <a:moveTo>
                  <a:pt x="0" y="0"/>
                </a:moveTo>
                <a:lnTo>
                  <a:pt x="1515974" y="0"/>
                </a:lnTo>
                <a:lnTo>
                  <a:pt x="1515974" y="1515974"/>
                </a:lnTo>
                <a:lnTo>
                  <a:pt x="0" y="15159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5" name="Freeform 5"/>
          <p:cNvSpPr/>
          <p:nvPr/>
        </p:nvSpPr>
        <p:spPr>
          <a:xfrm>
            <a:off x="5845720" y="7742326"/>
            <a:ext cx="1515974" cy="1515974"/>
          </a:xfrm>
          <a:custGeom>
            <a:avLst/>
            <a:gdLst/>
            <a:ahLst/>
            <a:cxnLst/>
            <a:rect l="l" t="t" r="r" b="b"/>
            <a:pathLst>
              <a:path w="1515974" h="1515974">
                <a:moveTo>
                  <a:pt x="0" y="0"/>
                </a:moveTo>
                <a:lnTo>
                  <a:pt x="1515974" y="0"/>
                </a:lnTo>
                <a:lnTo>
                  <a:pt x="1515974" y="1515974"/>
                </a:lnTo>
                <a:lnTo>
                  <a:pt x="0" y="15159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grpSp>
        <p:nvGrpSpPr>
          <p:cNvPr id="6" name="Group 6"/>
          <p:cNvGrpSpPr/>
          <p:nvPr/>
        </p:nvGrpSpPr>
        <p:grpSpPr>
          <a:xfrm>
            <a:off x="12195001" y="2730928"/>
            <a:ext cx="5064299" cy="6527372"/>
            <a:chOff x="0" y="0"/>
            <a:chExt cx="784592" cy="1011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4593" cy="1011261"/>
            </a:xfrm>
            <a:custGeom>
              <a:avLst/>
              <a:gdLst/>
              <a:ahLst/>
              <a:cxnLst/>
              <a:rect l="l" t="t" r="r" b="b"/>
              <a:pathLst>
                <a:path w="784593" h="1011261">
                  <a:moveTo>
                    <a:pt x="0" y="0"/>
                  </a:moveTo>
                  <a:lnTo>
                    <a:pt x="784593" y="0"/>
                  </a:lnTo>
                  <a:lnTo>
                    <a:pt x="784593" y="1011261"/>
                  </a:lnTo>
                  <a:lnTo>
                    <a:pt x="0" y="1011261"/>
                  </a:lnTo>
                  <a:close/>
                </a:path>
              </a:pathLst>
            </a:custGeom>
            <a:blipFill>
              <a:blip r:embed="rId3"/>
              <a:stretch>
                <a:fillRect l="-14444" r="-14444"/>
              </a:stretch>
            </a:blipFill>
          </p:spPr>
          <p:txBody>
            <a:bodyPr/>
            <a:lstStyle/>
            <a:p>
              <a:endParaRPr lang="es-AR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79531"/>
            <a:ext cx="3671450" cy="651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4"/>
              </a:lnSpc>
            </a:pPr>
            <a:r>
              <a:rPr lang="es-AR" sz="5440" b="1" spc="-288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PROBLEMA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45720" y="979531"/>
            <a:ext cx="4200025" cy="651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4"/>
              </a:lnSpc>
            </a:pPr>
            <a:r>
              <a:rPr lang="es-AR" sz="5440" b="1" spc="-288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CONTEXTO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683303"/>
            <a:ext cx="3177752" cy="315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  <a:spcBef>
                <a:spcPts val="600"/>
              </a:spcBef>
              <a:spcAft>
                <a:spcPts val="600"/>
              </a:spcAft>
            </a:pPr>
            <a:r>
              <a:rPr lang="es-AR" sz="2400" spc="-11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La volatilidad de precios de vuelos dificulta encontrar la mejor oferta en el momento justo.</a:t>
            </a:r>
          </a:p>
          <a:p>
            <a:pPr marL="0" lvl="0" indent="0" algn="l">
              <a:lnSpc>
                <a:spcPts val="2638"/>
              </a:lnSpc>
              <a:spcBef>
                <a:spcPts val="600"/>
              </a:spcBef>
              <a:spcAft>
                <a:spcPts val="600"/>
              </a:spcAft>
            </a:pPr>
            <a:r>
              <a:rPr lang="es-AR" sz="2400" spc="-11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Los precios pueden variar hasta un 47% en un mismo día según la demanda, el horario y la anticipación de la compra.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45720" y="2683303"/>
            <a:ext cx="3900138" cy="264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  <a:spcBef>
                <a:spcPts val="600"/>
              </a:spcBef>
              <a:spcAft>
                <a:spcPts val="600"/>
              </a:spcAft>
            </a:pPr>
            <a:r>
              <a:rPr lang="es-AR" sz="2400" spc="-11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Monitoreo manual: ineficiente e imposible de sostener 24/7.</a:t>
            </a:r>
          </a:p>
          <a:p>
            <a:pPr marL="0" lvl="0" indent="0" algn="l">
              <a:lnSpc>
                <a:spcPts val="2638"/>
              </a:lnSpc>
              <a:spcBef>
                <a:spcPts val="600"/>
              </a:spcBef>
              <a:spcAft>
                <a:spcPts val="600"/>
              </a:spcAft>
            </a:pPr>
            <a:r>
              <a:rPr lang="es-AR" sz="2400" spc="-11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Sin automatización, el usuario pierde ofertas críticas en minutos.</a:t>
            </a:r>
          </a:p>
          <a:p>
            <a:pPr marL="0" lvl="0" indent="0" algn="l">
              <a:lnSpc>
                <a:spcPts val="2638"/>
              </a:lnSpc>
              <a:spcBef>
                <a:spcPts val="600"/>
              </a:spcBef>
              <a:spcAft>
                <a:spcPts val="600"/>
              </a:spcAft>
            </a:pPr>
            <a:r>
              <a:rPr lang="es-AR" sz="2400" spc="-11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Necesidad: un sistema inteligente que monitoree, filtre y alerte en tiempo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9200" y="2486201"/>
            <a:ext cx="4873799" cy="6924499"/>
            <a:chOff x="0" y="0"/>
            <a:chExt cx="784592" cy="11893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4593" cy="1189353"/>
            </a:xfrm>
            <a:custGeom>
              <a:avLst/>
              <a:gdLst/>
              <a:ahLst/>
              <a:cxnLst/>
              <a:rect l="l" t="t" r="r" b="b"/>
              <a:pathLst>
                <a:path w="784593" h="1189353">
                  <a:moveTo>
                    <a:pt x="0" y="0"/>
                  </a:moveTo>
                  <a:lnTo>
                    <a:pt x="784593" y="0"/>
                  </a:lnTo>
                  <a:lnTo>
                    <a:pt x="784593" y="1189353"/>
                  </a:lnTo>
                  <a:lnTo>
                    <a:pt x="0" y="1189353"/>
                  </a:lnTo>
                  <a:close/>
                </a:path>
              </a:pathLst>
            </a:custGeom>
            <a:blipFill>
              <a:blip r:embed="rId2"/>
              <a:stretch>
                <a:fillRect l="-1583" r="-1583" b="-47900"/>
              </a:stretch>
            </a:blipFill>
          </p:spPr>
          <p:txBody>
            <a:bodyPr/>
            <a:lstStyle/>
            <a:p>
              <a:endParaRPr lang="es-AR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285875"/>
            <a:ext cx="7615845" cy="95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00"/>
              </a:lnSpc>
            </a:pPr>
            <a:r>
              <a:rPr lang="es-AR" sz="8000" b="1" spc="-424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SOLUCIÓN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24600" y="2476500"/>
            <a:ext cx="11429999" cy="5948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ts val="600"/>
              </a:spcBef>
              <a:spcAft>
                <a:spcPts val="900"/>
              </a:spcAft>
            </a:pP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Automatización 24/7 con N8N para monitorear y alertar sobre precios de vuelos en tiempo real.</a:t>
            </a:r>
          </a:p>
          <a:p>
            <a:pPr marL="0" lvl="0" indent="0" algn="l">
              <a:lnSpc>
                <a:spcPts val="3000"/>
              </a:lnSpc>
              <a:spcBef>
                <a:spcPts val="600"/>
              </a:spcBef>
              <a:spcAft>
                <a:spcPts val="900"/>
              </a:spcAft>
            </a:pPr>
            <a:r>
              <a:rPr lang="es-AR" sz="2400" u="sng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Herramientas integradas:</a:t>
            </a:r>
          </a:p>
          <a:p>
            <a:pPr>
              <a:lnSpc>
                <a:spcPts val="3000"/>
              </a:lnSpc>
              <a:spcBef>
                <a:spcPts val="600"/>
              </a:spcBef>
              <a:spcAft>
                <a:spcPts val="900"/>
              </a:spcAft>
            </a:pPr>
            <a:r>
              <a:rPr lang="es-AR" sz="2400" spc="-136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→ Docker — contenedor local</a:t>
            </a:r>
          </a:p>
          <a:p>
            <a:pPr marL="0" lvl="0" indent="0" algn="l">
              <a:lnSpc>
                <a:spcPts val="3000"/>
              </a:lnSpc>
              <a:spcBef>
                <a:spcPts val="600"/>
              </a:spcBef>
              <a:spcAft>
                <a:spcPts val="900"/>
              </a:spcAft>
            </a:pP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→ N8n — orquestación del </a:t>
            </a:r>
            <a:r>
              <a:rPr lang="es-AR" sz="2400" spc="-136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workflow</a:t>
            </a:r>
            <a:endParaRPr lang="es-AR" sz="2400" spc="-136" noProof="0" dirty="0">
              <a:solidFill>
                <a:srgbClr val="FFFFFF"/>
              </a:solidFill>
              <a:latin typeface="+mj-lt"/>
              <a:ea typeface="Bricolage Grotesque Medium"/>
              <a:cs typeface="Bricolage Grotesque Medium"/>
              <a:sym typeface="Bricolage Grotesque Medium"/>
            </a:endParaRPr>
          </a:p>
          <a:p>
            <a:pPr marL="0" lvl="0" indent="0" algn="l">
              <a:lnSpc>
                <a:spcPts val="3000"/>
              </a:lnSpc>
              <a:spcBef>
                <a:spcPts val="600"/>
              </a:spcBef>
              <a:spcAft>
                <a:spcPts val="900"/>
              </a:spcAft>
            </a:pP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→ </a:t>
            </a:r>
            <a:r>
              <a:rPr lang="es-AR" sz="2400" spc="-136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Serpapi</a:t>
            </a: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— extracción de precios</a:t>
            </a:r>
          </a:p>
          <a:p>
            <a:pPr marL="0" lvl="0" indent="0" algn="l">
              <a:lnSpc>
                <a:spcPts val="3000"/>
              </a:lnSpc>
              <a:spcBef>
                <a:spcPts val="600"/>
              </a:spcBef>
              <a:spcAft>
                <a:spcPts val="900"/>
              </a:spcAft>
            </a:pP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→ Google </a:t>
            </a:r>
            <a:r>
              <a:rPr lang="es-AR" sz="2400" spc="-136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sheets</a:t>
            </a: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— historial y registro</a:t>
            </a:r>
          </a:p>
          <a:p>
            <a:pPr marL="0" lvl="0" indent="0" algn="l">
              <a:lnSpc>
                <a:spcPts val="3000"/>
              </a:lnSpc>
              <a:spcBef>
                <a:spcPts val="600"/>
              </a:spcBef>
              <a:spcAft>
                <a:spcPts val="900"/>
              </a:spcAft>
            </a:pP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→ Ollama (</a:t>
            </a:r>
            <a:r>
              <a:rPr lang="es-AR" sz="2400" spc="-136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qwen</a:t>
            </a: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2.5 7b) — </a:t>
            </a:r>
            <a:r>
              <a:rPr lang="es-AR" sz="2400" spc="-136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ia</a:t>
            </a: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local</a:t>
            </a:r>
          </a:p>
          <a:p>
            <a:pPr marL="0" lvl="0" indent="0" algn="l">
              <a:lnSpc>
                <a:spcPts val="3000"/>
              </a:lnSpc>
              <a:spcBef>
                <a:spcPts val="600"/>
              </a:spcBef>
              <a:spcAft>
                <a:spcPts val="900"/>
              </a:spcAft>
            </a:pP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→ </a:t>
            </a:r>
            <a:r>
              <a:rPr lang="es-AR" sz="2400" spc="-136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Telegram</a:t>
            </a: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— alertas instantáneas</a:t>
            </a:r>
          </a:p>
          <a:p>
            <a:pPr marL="0" lvl="0" indent="0" algn="l">
              <a:lnSpc>
                <a:spcPts val="3000"/>
              </a:lnSpc>
              <a:spcBef>
                <a:spcPts val="600"/>
              </a:spcBef>
              <a:spcAft>
                <a:spcPts val="900"/>
              </a:spcAft>
            </a:pP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El sistema opera de forma continua, aplica reglas de negocio inteligentes y genera explicaciones automáticas con </a:t>
            </a:r>
            <a:r>
              <a:rPr lang="es-AR" sz="2400" spc="-136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ia</a:t>
            </a: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local, sin costos por token ni dependencia de servicios externos.</a:t>
            </a:r>
          </a:p>
          <a:p>
            <a:pPr marL="0" lvl="0" indent="0" algn="l">
              <a:lnSpc>
                <a:spcPts val="3000"/>
              </a:lnSpc>
              <a:spcBef>
                <a:spcPts val="600"/>
              </a:spcBef>
              <a:spcAft>
                <a:spcPts val="900"/>
              </a:spcAft>
            </a:pP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Plus: generado en local mediante </a:t>
            </a:r>
            <a:r>
              <a:rPr lang="es-AR" sz="2400" spc="-136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docker</a:t>
            </a:r>
            <a:r>
              <a:rPr lang="es-AR" sz="2400" spc="-13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, obteniendo una herramienta gratuita y escalable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6089071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1028700" y="1295400"/>
            <a:ext cx="6890119" cy="94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s-AR" sz="7994" b="1" spc="-423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ARQUITECTURA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7051040"/>
            <a:ext cx="3177752" cy="1712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Scraping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con </a:t>
            </a:r>
            <a:r>
              <a:rPr lang="es-AR" sz="2000" spc="-10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erpAPI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. Extracción automática de precios de vuelos en tiempo real desde múltiples fuentes. Consultas programadas cada 30 minutos.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474833"/>
            <a:ext cx="1756678" cy="27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3"/>
              </a:lnSpc>
            </a:pPr>
            <a:r>
              <a:rPr lang="es-AR" sz="2298" b="1" spc="-121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CAPA 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79649" y="7051040"/>
            <a:ext cx="3177752" cy="1712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Orquestación N8N. 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Workflow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automatizado que coordina todos los componentes del sistema. Lógica de negocio, 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triggers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y enrutamiento de datos.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79649" y="6474833"/>
            <a:ext cx="1756678" cy="27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3"/>
              </a:lnSpc>
            </a:pPr>
            <a:r>
              <a:rPr lang="es-AR" sz="2298" b="1" spc="-121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CAPA 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30599" y="7051040"/>
            <a:ext cx="3177752" cy="171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Google </a:t>
            </a:r>
            <a:r>
              <a:rPr lang="es-AR" sz="2000" spc="-10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heets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como base de datos. Registro histórico de precios, configuración de rutas y umbrales. Acceso remoto vía </a:t>
            </a:r>
            <a:r>
              <a:rPr lang="es-AR" sz="2000" spc="-10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G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oogle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Forms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30599" y="6474833"/>
            <a:ext cx="1756678" cy="27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3"/>
              </a:lnSpc>
            </a:pPr>
            <a:r>
              <a:rPr lang="es-AR" sz="2298" b="1" spc="-121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CAPA 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81548" y="7051040"/>
            <a:ext cx="3177752" cy="1712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Motor de decisión + 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ia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(</a:t>
            </a:r>
            <a:r>
              <a:rPr lang="es-AR" sz="2000" spc="-10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O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llama) + alertas </a:t>
            </a:r>
            <a:r>
              <a:rPr lang="es-AR" sz="2000" spc="-10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T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elegram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. 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Scoring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automático, explicaciones con </a:t>
            </a:r>
            <a:r>
              <a:rPr lang="es-AR" sz="2000" spc="-10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Q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wen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 2.5 7b local y notificaciones en tiempo real.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81548" y="6474833"/>
            <a:ext cx="1756678" cy="27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3"/>
              </a:lnSpc>
            </a:pPr>
            <a:r>
              <a:rPr lang="es-AR" sz="2298" b="1" spc="-121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CAPA 04</a:t>
            </a:r>
          </a:p>
        </p:txBody>
      </p:sp>
      <p:sp>
        <p:nvSpPr>
          <p:cNvPr id="16" name="Freeform 6"/>
          <p:cNvSpPr/>
          <p:nvPr/>
        </p:nvSpPr>
        <p:spPr>
          <a:xfrm>
            <a:off x="2507149" y="2192137"/>
            <a:ext cx="2867001" cy="2070387"/>
          </a:xfrm>
          <a:custGeom>
            <a:avLst/>
            <a:gdLst/>
            <a:ahLst/>
            <a:cxnLst/>
            <a:rect l="l" t="t" r="r" b="b"/>
            <a:pathLst>
              <a:path w="2867001" h="2070387">
                <a:moveTo>
                  <a:pt x="0" y="0"/>
                </a:moveTo>
                <a:lnTo>
                  <a:pt x="2867001" y="0"/>
                </a:lnTo>
                <a:lnTo>
                  <a:pt x="2867001" y="2070386"/>
                </a:lnTo>
                <a:lnTo>
                  <a:pt x="0" y="2070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7" name="Freeform 7"/>
          <p:cNvSpPr/>
          <p:nvPr/>
        </p:nvSpPr>
        <p:spPr>
          <a:xfrm>
            <a:off x="13981608" y="1623279"/>
            <a:ext cx="2568586" cy="2568586"/>
          </a:xfrm>
          <a:custGeom>
            <a:avLst/>
            <a:gdLst/>
            <a:ahLst/>
            <a:cxnLst/>
            <a:rect l="l" t="t" r="r" b="b"/>
            <a:pathLst>
              <a:path w="2568586" h="2568586">
                <a:moveTo>
                  <a:pt x="0" y="0"/>
                </a:moveTo>
                <a:lnTo>
                  <a:pt x="2568587" y="0"/>
                </a:lnTo>
                <a:lnTo>
                  <a:pt x="2568587" y="2568586"/>
                </a:lnTo>
                <a:lnTo>
                  <a:pt x="0" y="256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8" name="Freeform 8"/>
          <p:cNvSpPr/>
          <p:nvPr/>
        </p:nvSpPr>
        <p:spPr>
          <a:xfrm>
            <a:off x="4866589" y="3783672"/>
            <a:ext cx="2251756" cy="2251756"/>
          </a:xfrm>
          <a:custGeom>
            <a:avLst/>
            <a:gdLst/>
            <a:ahLst/>
            <a:cxnLst/>
            <a:rect l="l" t="t" r="r" b="b"/>
            <a:pathLst>
              <a:path w="2251756" h="2251756">
                <a:moveTo>
                  <a:pt x="0" y="0"/>
                </a:moveTo>
                <a:lnTo>
                  <a:pt x="2251756" y="0"/>
                </a:lnTo>
                <a:lnTo>
                  <a:pt x="2251756" y="2251756"/>
                </a:lnTo>
                <a:lnTo>
                  <a:pt x="0" y="2251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9" name="Freeform 9"/>
          <p:cNvSpPr/>
          <p:nvPr/>
        </p:nvSpPr>
        <p:spPr>
          <a:xfrm>
            <a:off x="7353537" y="2912361"/>
            <a:ext cx="2571135" cy="2571135"/>
          </a:xfrm>
          <a:custGeom>
            <a:avLst/>
            <a:gdLst/>
            <a:ahLst/>
            <a:cxnLst/>
            <a:rect l="l" t="t" r="r" b="b"/>
            <a:pathLst>
              <a:path w="2571135" h="2571135">
                <a:moveTo>
                  <a:pt x="0" y="0"/>
                </a:moveTo>
                <a:lnTo>
                  <a:pt x="2571134" y="0"/>
                </a:lnTo>
                <a:lnTo>
                  <a:pt x="2571134" y="2571135"/>
                </a:lnTo>
                <a:lnTo>
                  <a:pt x="0" y="25711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Freeform 10"/>
          <p:cNvSpPr/>
          <p:nvPr/>
        </p:nvSpPr>
        <p:spPr>
          <a:xfrm>
            <a:off x="13411200" y="3825252"/>
            <a:ext cx="2168597" cy="2168597"/>
          </a:xfrm>
          <a:custGeom>
            <a:avLst/>
            <a:gdLst/>
            <a:ahLst/>
            <a:cxnLst/>
            <a:rect l="l" t="t" r="r" b="b"/>
            <a:pathLst>
              <a:path w="2168597" h="2168597">
                <a:moveTo>
                  <a:pt x="0" y="0"/>
                </a:moveTo>
                <a:lnTo>
                  <a:pt x="2168597" y="0"/>
                </a:lnTo>
                <a:lnTo>
                  <a:pt x="2168597" y="2168597"/>
                </a:lnTo>
                <a:lnTo>
                  <a:pt x="0" y="21685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21" name="Freeform 11"/>
          <p:cNvSpPr/>
          <p:nvPr/>
        </p:nvSpPr>
        <p:spPr>
          <a:xfrm>
            <a:off x="634000" y="4453253"/>
            <a:ext cx="2446507" cy="1631005"/>
          </a:xfrm>
          <a:custGeom>
            <a:avLst/>
            <a:gdLst/>
            <a:ahLst/>
            <a:cxnLst/>
            <a:rect l="l" t="t" r="r" b="b"/>
            <a:pathLst>
              <a:path w="2446507" h="1631005">
                <a:moveTo>
                  <a:pt x="0" y="0"/>
                </a:moveTo>
                <a:lnTo>
                  <a:pt x="2446507" y="0"/>
                </a:lnTo>
                <a:lnTo>
                  <a:pt x="2446507" y="1631005"/>
                </a:lnTo>
                <a:lnTo>
                  <a:pt x="0" y="16310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22" name="Freeform 12"/>
          <p:cNvSpPr/>
          <p:nvPr/>
        </p:nvSpPr>
        <p:spPr>
          <a:xfrm>
            <a:off x="10369183" y="1669261"/>
            <a:ext cx="2446354" cy="2452485"/>
          </a:xfrm>
          <a:custGeom>
            <a:avLst/>
            <a:gdLst/>
            <a:ahLst/>
            <a:cxnLst/>
            <a:rect l="l" t="t" r="r" b="b"/>
            <a:pathLst>
              <a:path w="2446354" h="2452485">
                <a:moveTo>
                  <a:pt x="0" y="0"/>
                </a:moveTo>
                <a:lnTo>
                  <a:pt x="2446354" y="0"/>
                </a:lnTo>
                <a:lnTo>
                  <a:pt x="2446354" y="2452485"/>
                </a:lnTo>
                <a:lnTo>
                  <a:pt x="0" y="2452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6956" y="5846143"/>
            <a:ext cx="486921" cy="333111"/>
          </a:xfrm>
          <a:custGeom>
            <a:avLst/>
            <a:gdLst/>
            <a:ahLst/>
            <a:cxnLst/>
            <a:rect l="l" t="t" r="r" b="b"/>
            <a:pathLst>
              <a:path w="486921" h="333111">
                <a:moveTo>
                  <a:pt x="0" y="0"/>
                </a:moveTo>
                <a:lnTo>
                  <a:pt x="486921" y="0"/>
                </a:lnTo>
                <a:lnTo>
                  <a:pt x="486921" y="333112"/>
                </a:lnTo>
                <a:lnTo>
                  <a:pt x="0" y="333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3" name="Freeform 3"/>
          <p:cNvSpPr/>
          <p:nvPr/>
        </p:nvSpPr>
        <p:spPr>
          <a:xfrm>
            <a:off x="4749525" y="5843645"/>
            <a:ext cx="473580" cy="333366"/>
          </a:xfrm>
          <a:custGeom>
            <a:avLst/>
            <a:gdLst/>
            <a:ahLst/>
            <a:cxnLst/>
            <a:rect l="l" t="t" r="r" b="b"/>
            <a:pathLst>
              <a:path w="473580" h="333366">
                <a:moveTo>
                  <a:pt x="0" y="0"/>
                </a:moveTo>
                <a:lnTo>
                  <a:pt x="473580" y="0"/>
                </a:lnTo>
                <a:lnTo>
                  <a:pt x="473580" y="333366"/>
                </a:lnTo>
                <a:lnTo>
                  <a:pt x="0" y="333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4" name="Freeform 4"/>
          <p:cNvSpPr/>
          <p:nvPr/>
        </p:nvSpPr>
        <p:spPr>
          <a:xfrm>
            <a:off x="8771686" y="5845353"/>
            <a:ext cx="630329" cy="334201"/>
          </a:xfrm>
          <a:custGeom>
            <a:avLst/>
            <a:gdLst/>
            <a:ahLst/>
            <a:cxnLst/>
            <a:rect l="l" t="t" r="r" b="b"/>
            <a:pathLst>
              <a:path w="630329" h="334201">
                <a:moveTo>
                  <a:pt x="0" y="0"/>
                </a:moveTo>
                <a:lnTo>
                  <a:pt x="630328" y="0"/>
                </a:lnTo>
                <a:lnTo>
                  <a:pt x="630328" y="334201"/>
                </a:lnTo>
                <a:lnTo>
                  <a:pt x="0" y="334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5" name="Freeform 5"/>
          <p:cNvSpPr/>
          <p:nvPr/>
        </p:nvSpPr>
        <p:spPr>
          <a:xfrm>
            <a:off x="685737" y="2471920"/>
            <a:ext cx="4432593" cy="3278683"/>
          </a:xfrm>
          <a:custGeom>
            <a:avLst/>
            <a:gdLst/>
            <a:ahLst/>
            <a:cxnLst/>
            <a:rect l="l" t="t" r="r" b="b"/>
            <a:pathLst>
              <a:path w="4432593" h="3278683">
                <a:moveTo>
                  <a:pt x="0" y="0"/>
                </a:moveTo>
                <a:lnTo>
                  <a:pt x="4432593" y="0"/>
                </a:lnTo>
                <a:lnTo>
                  <a:pt x="4432593" y="3278683"/>
                </a:lnTo>
                <a:lnTo>
                  <a:pt x="0" y="3278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7986"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6" name="Freeform 6"/>
          <p:cNvSpPr/>
          <p:nvPr/>
        </p:nvSpPr>
        <p:spPr>
          <a:xfrm>
            <a:off x="4766072" y="6473810"/>
            <a:ext cx="4432593" cy="3278683"/>
          </a:xfrm>
          <a:custGeom>
            <a:avLst/>
            <a:gdLst/>
            <a:ahLst/>
            <a:cxnLst/>
            <a:rect l="l" t="t" r="r" b="b"/>
            <a:pathLst>
              <a:path w="4432593" h="3278683">
                <a:moveTo>
                  <a:pt x="0" y="0"/>
                </a:moveTo>
                <a:lnTo>
                  <a:pt x="4432593" y="0"/>
                </a:lnTo>
                <a:lnTo>
                  <a:pt x="4432593" y="3278682"/>
                </a:lnTo>
                <a:lnTo>
                  <a:pt x="0" y="3278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376" r="-8960"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7" name="Freeform 7"/>
          <p:cNvSpPr/>
          <p:nvPr/>
        </p:nvSpPr>
        <p:spPr>
          <a:xfrm>
            <a:off x="9571425" y="2546422"/>
            <a:ext cx="3509990" cy="3278683"/>
          </a:xfrm>
          <a:custGeom>
            <a:avLst/>
            <a:gdLst/>
            <a:ahLst/>
            <a:cxnLst/>
            <a:rect l="l" t="t" r="r" b="b"/>
            <a:pathLst>
              <a:path w="3509990" h="3278683">
                <a:moveTo>
                  <a:pt x="0" y="0"/>
                </a:moveTo>
                <a:lnTo>
                  <a:pt x="3509990" y="0"/>
                </a:lnTo>
                <a:lnTo>
                  <a:pt x="3509990" y="3278683"/>
                </a:lnTo>
                <a:lnTo>
                  <a:pt x="0" y="3278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4123" b="-14123"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8" name="Freeform 8"/>
          <p:cNvSpPr/>
          <p:nvPr/>
        </p:nvSpPr>
        <p:spPr>
          <a:xfrm>
            <a:off x="12932082" y="6473810"/>
            <a:ext cx="5429469" cy="3495373"/>
          </a:xfrm>
          <a:custGeom>
            <a:avLst/>
            <a:gdLst/>
            <a:ahLst/>
            <a:cxnLst/>
            <a:rect l="l" t="t" r="r" b="b"/>
            <a:pathLst>
              <a:path w="5429469" h="3495373">
                <a:moveTo>
                  <a:pt x="0" y="0"/>
                </a:moveTo>
                <a:lnTo>
                  <a:pt x="5429470" y="0"/>
                </a:lnTo>
                <a:lnTo>
                  <a:pt x="5429470" y="3495372"/>
                </a:lnTo>
                <a:lnTo>
                  <a:pt x="0" y="34953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11532"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9" name="Freeform 9"/>
          <p:cNvSpPr/>
          <p:nvPr/>
        </p:nvSpPr>
        <p:spPr>
          <a:xfrm>
            <a:off x="13999493" y="5849410"/>
            <a:ext cx="406728" cy="327601"/>
          </a:xfrm>
          <a:custGeom>
            <a:avLst/>
            <a:gdLst/>
            <a:ahLst/>
            <a:cxnLst/>
            <a:rect l="l" t="t" r="r" b="b"/>
            <a:pathLst>
              <a:path w="406728" h="327601">
                <a:moveTo>
                  <a:pt x="0" y="0"/>
                </a:moveTo>
                <a:lnTo>
                  <a:pt x="406728" y="0"/>
                </a:lnTo>
                <a:lnTo>
                  <a:pt x="406728" y="327601"/>
                </a:lnTo>
                <a:lnTo>
                  <a:pt x="0" y="327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1219200"/>
            <a:ext cx="6890119" cy="13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79"/>
              </a:lnSpc>
            </a:pPr>
            <a:r>
              <a:rPr lang="es-AR" sz="5858" b="1" spc="-31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FLUJO DE</a:t>
            </a:r>
          </a:p>
          <a:p>
            <a:pPr marL="0" lvl="0" indent="0" algn="l">
              <a:lnSpc>
                <a:spcPts val="4979"/>
              </a:lnSpc>
            </a:pPr>
            <a:r>
              <a:rPr lang="es-AR" sz="5858" b="1" spc="-31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DATOS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97531" y="6549541"/>
            <a:ext cx="3177752" cy="2415157"/>
            <a:chOff x="0" y="66675"/>
            <a:chExt cx="4237003" cy="322020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003695"/>
              <a:ext cx="4237003" cy="2283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59"/>
                </a:lnSpc>
                <a:spcBef>
                  <a:spcPts val="600"/>
                </a:spcBef>
              </a:pPr>
              <a:r>
                <a:rPr lang="es-AR" sz="2000" spc="-100" noProof="0" dirty="0" err="1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SerpAPI</a:t>
              </a:r>
              <a:r>
                <a:rPr lang="es-AR" sz="2000" spc="-100" noProof="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 consulta precios de vuelos en tiempo real. El </a:t>
              </a:r>
              <a:r>
                <a:rPr lang="es-AR" sz="2000" spc="-10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W</a:t>
              </a:r>
              <a:r>
                <a:rPr lang="es-AR" sz="2000" spc="-100" noProof="0" dirty="0" err="1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orkflow</a:t>
              </a:r>
              <a:r>
                <a:rPr lang="es-AR" sz="2000" spc="-100" noProof="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 N8N se activa cada hora y obtiene tarifas actualizadas para las rutas configuradas.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6675"/>
              <a:ext cx="3767991" cy="366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39"/>
                </a:lnSpc>
              </a:pPr>
              <a:r>
                <a:rPr lang="es-AR" sz="2164" b="1" spc="-114" noProof="0" dirty="0">
                  <a:solidFill>
                    <a:srgbClr val="FFFFFF"/>
                  </a:solidFill>
                  <a:latin typeface="Bricolage Grotesque Medium"/>
                  <a:ea typeface="Bricolage Grotesque Medium"/>
                  <a:cs typeface="Bricolage Grotesque Medium"/>
                  <a:sym typeface="Bricolage Grotesque Medium"/>
                </a:rPr>
                <a:t>01 / EXTRACCIÓN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93933" y="2596428"/>
            <a:ext cx="3177752" cy="2615781"/>
            <a:chOff x="0" y="66675"/>
            <a:chExt cx="4237003" cy="3487708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271193"/>
              <a:ext cx="4237003" cy="228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59"/>
                </a:lnSpc>
                <a:spcBef>
                  <a:spcPts val="600"/>
                </a:spcBef>
              </a:pPr>
              <a:r>
                <a:rPr lang="es-AR" sz="2000" spc="-100" noProof="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N8n filtra, normaliza y estructura los datos. Se comparan con umbrales configurados en </a:t>
              </a:r>
              <a:r>
                <a:rPr lang="es-AR" sz="2000" spc="-10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G</a:t>
              </a:r>
              <a:r>
                <a:rPr lang="es-AR" sz="2000" spc="-100" noProof="0" dirty="0" err="1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oogle</a:t>
              </a:r>
              <a:r>
                <a:rPr lang="es-AR" sz="2000" spc="-100" noProof="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 Sheets: presupuesto, escalas y duración máxima.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6675"/>
              <a:ext cx="3603481" cy="366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39"/>
                </a:lnSpc>
              </a:pPr>
              <a:r>
                <a:rPr lang="es-AR" sz="2164" b="1" spc="-114" noProof="0" dirty="0">
                  <a:solidFill>
                    <a:srgbClr val="FFFFFF"/>
                  </a:solidFill>
                  <a:latin typeface="Bricolage Grotesque Medium"/>
                  <a:ea typeface="Bricolage Grotesque Medium"/>
                  <a:cs typeface="Bricolage Grotesque Medium"/>
                  <a:sym typeface="Bricolage Grotesque Medium"/>
                </a:rPr>
                <a:t>02 / PROCESAMIENTO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71425" y="6546395"/>
            <a:ext cx="3177752" cy="2415157"/>
            <a:chOff x="0" y="66675"/>
            <a:chExt cx="4237003" cy="322020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003695"/>
              <a:ext cx="4237003" cy="2283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59"/>
                </a:lnSpc>
                <a:spcBef>
                  <a:spcPts val="600"/>
                </a:spcBef>
              </a:pPr>
              <a:r>
                <a:rPr lang="es-AR" sz="2000" spc="-100" noProof="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El motor de decisión calcula un score (base 100). Penaliza precio, escalas y duración. Score ≥ 75 activa alerta. Score &lt; 75 solo registra en historial.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6675"/>
              <a:ext cx="2342237" cy="366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39"/>
                </a:lnSpc>
              </a:pPr>
              <a:r>
                <a:rPr lang="es-AR" sz="2164" b="1" spc="-114" noProof="0" dirty="0">
                  <a:solidFill>
                    <a:srgbClr val="FFFFFF"/>
                  </a:solidFill>
                  <a:latin typeface="Bricolage Grotesque Medium"/>
                  <a:ea typeface="Bricolage Grotesque Medium"/>
                  <a:cs typeface="Bricolage Grotesque Medium"/>
                  <a:sym typeface="Bricolage Grotesque Medium"/>
                </a:rPr>
                <a:t>03 / PUNTAJE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279111" y="2596428"/>
            <a:ext cx="3177752" cy="2615780"/>
            <a:chOff x="0" y="66675"/>
            <a:chExt cx="4237003" cy="3487707"/>
          </a:xfrm>
        </p:grpSpPr>
        <p:sp>
          <p:nvSpPr>
            <p:cNvPr id="24" name="TextBox 24"/>
            <p:cNvSpPr txBox="1"/>
            <p:nvPr/>
          </p:nvSpPr>
          <p:spPr>
            <a:xfrm>
              <a:off x="0" y="1271192"/>
              <a:ext cx="4237003" cy="228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59"/>
                </a:lnSpc>
                <a:spcBef>
                  <a:spcPts val="600"/>
                </a:spcBef>
              </a:pPr>
              <a:r>
                <a:rPr lang="es-AR" sz="2000" spc="-100" noProof="0" dirty="0" err="1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Telegram</a:t>
              </a:r>
              <a:r>
                <a:rPr lang="es-AR" sz="2000" spc="-100" noProof="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 recibe la alerta con datos del vuelo. Ollama (</a:t>
              </a:r>
              <a:r>
                <a:rPr lang="es-AR" sz="2000" spc="-10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Q</a:t>
              </a:r>
              <a:r>
                <a:rPr lang="es-AR" sz="2000" spc="-100" noProof="0" dirty="0" err="1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wen</a:t>
              </a:r>
              <a:r>
                <a:rPr lang="es-AR" sz="2000" spc="-100" noProof="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 2.5 7b) genera una explicación en lenguaje natural. Todo queda registrado en </a:t>
              </a:r>
              <a:r>
                <a:rPr lang="es-AR" sz="2000" spc="-10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G</a:t>
              </a:r>
              <a:r>
                <a:rPr lang="es-AR" sz="2000" spc="-100" noProof="0" dirty="0" err="1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oogle</a:t>
              </a:r>
              <a:r>
                <a:rPr lang="es-AR" sz="2000" spc="-100" noProof="0" dirty="0">
                  <a:solidFill>
                    <a:srgbClr val="FFFFFF"/>
                  </a:solidFill>
                  <a:latin typeface="+mj-lt"/>
                  <a:ea typeface="Bricolage Grotesque Medium"/>
                  <a:cs typeface="Bricolage Grotesque Medium"/>
                  <a:sym typeface="Bricolage Grotesque Medium"/>
                </a:rPr>
                <a:t> Sheets.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66675"/>
              <a:ext cx="3749712" cy="366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39"/>
                </a:lnSpc>
              </a:pPr>
              <a:r>
                <a:rPr lang="es-AR" sz="2164" b="1" spc="-114" noProof="0" dirty="0">
                  <a:solidFill>
                    <a:srgbClr val="FFFFFF"/>
                  </a:solidFill>
                  <a:latin typeface="Bricolage Grotesque Medium"/>
                  <a:ea typeface="Bricolage Grotesque Medium"/>
                  <a:cs typeface="Bricolage Grotesque Medium"/>
                  <a:sym typeface="Bricolage Grotesque Medium"/>
                </a:rPr>
                <a:t>04 / ALERTA + IA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8700" y="1295400"/>
            <a:ext cx="6890119" cy="94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s-AR" sz="7994" b="1" spc="-423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EVOLUCIÓN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051040"/>
            <a:ext cx="3177752" cy="1712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ts val="600"/>
              </a:spcBef>
            </a:pP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Monitoreo fijo de ruta EZE-YWG. Extracción periódica de precios vía </a:t>
            </a:r>
            <a:r>
              <a:rPr lang="es-AR" sz="2000" spc="-10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</a:t>
            </a:r>
            <a:r>
              <a:rPr lang="es-AR" sz="2000" spc="-100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erpAPI</a:t>
            </a:r>
            <a:r>
              <a:rPr lang="es-AR" sz="2000" spc="-10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. Registro automático en Google Sheets. Base del sistema de alertas.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465308"/>
            <a:ext cx="2263917" cy="24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0"/>
              </a:lnSpc>
            </a:pPr>
            <a:r>
              <a:rPr lang="es-AR" sz="2083" b="1" spc="-110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V1 — MONITOREO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C36A8F9-9959-C443-5C6B-A64B6E491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095500"/>
            <a:ext cx="13868400" cy="7594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9E451-FB5C-CB36-29D9-9C6A39AA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65763DC6-B197-19CF-A3E9-39A62D7286CF}"/>
              </a:ext>
            </a:extLst>
          </p:cNvPr>
          <p:cNvSpPr txBox="1"/>
          <p:nvPr/>
        </p:nvSpPr>
        <p:spPr>
          <a:xfrm>
            <a:off x="7109248" y="7051040"/>
            <a:ext cx="3177752" cy="206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s-AR" sz="2000" spc="-100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Incorporación del motor de decisión con </a:t>
            </a:r>
            <a:r>
              <a:rPr lang="es-AR" sz="2000" spc="-10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B</a:t>
            </a:r>
            <a:r>
              <a:rPr lang="es-AR" sz="2000" spc="-100" noProof="0" dirty="0" err="1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usiness</a:t>
            </a:r>
            <a:r>
              <a:rPr lang="es-AR" sz="2000" spc="-100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 </a:t>
            </a:r>
            <a:r>
              <a:rPr lang="es-AR" sz="2000" spc="-100" noProof="0" dirty="0" err="1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Scoring</a:t>
            </a:r>
            <a:r>
              <a:rPr lang="es-AR" sz="2000" spc="-100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. Penalizaciones por precio, escalas y duración. Score ≥ 75 activa alerta en </a:t>
            </a:r>
            <a:r>
              <a:rPr lang="es-AR" sz="2000" spc="-10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T</a:t>
            </a:r>
            <a:r>
              <a:rPr lang="es-AR" sz="2000" spc="-100" noProof="0" dirty="0" err="1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elegram</a:t>
            </a:r>
            <a:r>
              <a:rPr lang="es-AR" sz="2000" spc="-100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B81E862-54D6-3192-E27B-FBDD45E3D84F}"/>
              </a:ext>
            </a:extLst>
          </p:cNvPr>
          <p:cNvSpPr txBox="1"/>
          <p:nvPr/>
        </p:nvSpPr>
        <p:spPr>
          <a:xfrm>
            <a:off x="7109248" y="6465308"/>
            <a:ext cx="1756678" cy="24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0"/>
              </a:lnSpc>
            </a:pPr>
            <a:r>
              <a:rPr lang="es-AR" sz="2083" b="1" spc="-110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V2 — SCORING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9D0FF6D-C7BB-0084-6185-DF652597A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75830"/>
            <a:ext cx="18401825" cy="384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16614-5525-7567-6E00-303CC1BAF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9835FC0-A6E8-D773-1BDE-87E9B3EA6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058"/>
            <a:ext cx="18288000" cy="8162884"/>
          </a:xfrm>
          <a:prstGeom prst="rect">
            <a:avLst/>
          </a:prstGeom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5127F1A5-3544-811C-77B2-9262B104D206}"/>
              </a:ext>
            </a:extLst>
          </p:cNvPr>
          <p:cNvSpPr txBox="1"/>
          <p:nvPr/>
        </p:nvSpPr>
        <p:spPr>
          <a:xfrm>
            <a:off x="12115800" y="7051040"/>
            <a:ext cx="3177752" cy="2056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s-AR" sz="2000" spc="-100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Integración de </a:t>
            </a:r>
            <a:r>
              <a:rPr lang="es-AR" sz="2000" spc="-10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O</a:t>
            </a:r>
            <a:r>
              <a:rPr lang="es-AR" sz="2000" spc="-100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llama con modelo </a:t>
            </a:r>
            <a:r>
              <a:rPr lang="es-AR" sz="2000" spc="-10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Q</a:t>
            </a:r>
            <a:r>
              <a:rPr lang="es-AR" sz="2000" spc="-100" noProof="0" dirty="0" err="1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wen</a:t>
            </a:r>
            <a:r>
              <a:rPr lang="es-AR" sz="2000" spc="-100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 2.5 7b ejecutado localmente. Generación automática de explicaciones en lenguaje natural. Sin costos por token.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C4B3B9AB-8896-6DC7-1C19-3C018BCBE2A7}"/>
              </a:ext>
            </a:extLst>
          </p:cNvPr>
          <p:cNvSpPr txBox="1"/>
          <p:nvPr/>
        </p:nvSpPr>
        <p:spPr>
          <a:xfrm>
            <a:off x="12115800" y="6465308"/>
            <a:ext cx="1756678" cy="24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0"/>
              </a:lnSpc>
            </a:pPr>
            <a:r>
              <a:rPr lang="es-AR" sz="2083" b="1" spc="-110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V3 — IA LOCAL</a:t>
            </a:r>
          </a:p>
        </p:txBody>
      </p:sp>
    </p:spTree>
    <p:extLst>
      <p:ext uri="{BB962C8B-B14F-4D97-AF65-F5344CB8AC3E}">
        <p14:creationId xmlns:p14="http://schemas.microsoft.com/office/powerpoint/2010/main" val="4249617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467103"/>
            <a:ext cx="9105900" cy="6248391"/>
            <a:chOff x="0" y="0"/>
            <a:chExt cx="784592" cy="6356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4593" cy="635621"/>
            </a:xfrm>
            <a:custGeom>
              <a:avLst/>
              <a:gdLst/>
              <a:ahLst/>
              <a:cxnLst/>
              <a:rect l="l" t="t" r="r" b="b"/>
              <a:pathLst>
                <a:path w="784593" h="635621">
                  <a:moveTo>
                    <a:pt x="0" y="0"/>
                  </a:moveTo>
                  <a:lnTo>
                    <a:pt x="784593" y="0"/>
                  </a:lnTo>
                  <a:lnTo>
                    <a:pt x="784593" y="635621"/>
                  </a:lnTo>
                  <a:lnTo>
                    <a:pt x="0" y="635621"/>
                  </a:lnTo>
                  <a:close/>
                </a:path>
              </a:pathLst>
            </a:custGeom>
            <a:blipFill>
              <a:blip r:embed="rId2"/>
              <a:stretch>
                <a:fillRect r="-56169"/>
              </a:stretch>
            </a:blipFill>
          </p:spPr>
          <p:txBody>
            <a:bodyPr/>
            <a:lstStyle/>
            <a:p>
              <a:endParaRPr lang="es-AR" noProof="0" dirty="0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1028700" y="3400909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Box 5"/>
          <p:cNvSpPr txBox="1"/>
          <p:nvPr/>
        </p:nvSpPr>
        <p:spPr>
          <a:xfrm>
            <a:off x="1028700" y="1028700"/>
            <a:ext cx="9867900" cy="2502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593"/>
              </a:lnSpc>
              <a:spcBef>
                <a:spcPts val="600"/>
              </a:spcBef>
            </a:pPr>
            <a:r>
              <a:rPr lang="es-AR" sz="7994" b="1" spc="-423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MOTOR DE DECISIÓN</a:t>
            </a:r>
          </a:p>
          <a:p>
            <a:pPr lvl="0">
              <a:lnSpc>
                <a:spcPts val="9593"/>
              </a:lnSpc>
              <a:spcBef>
                <a:spcPts val="600"/>
              </a:spcBef>
            </a:pPr>
            <a:r>
              <a:rPr lang="es-AR" sz="7994" b="1" spc="-423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Business </a:t>
            </a:r>
            <a:r>
              <a:rPr lang="es-AR" sz="7994" b="1" spc="-423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Scoring</a:t>
            </a:r>
            <a:endParaRPr lang="es-AR" sz="7994" b="1" spc="-423" noProof="0" dirty="0">
              <a:solidFill>
                <a:srgbClr val="FFFFFF"/>
              </a:solidFill>
              <a:latin typeface="+mj-lt"/>
              <a:ea typeface="Bricolage Grotesque Medium"/>
              <a:cs typeface="Bricolage Grotesque Medium"/>
              <a:sym typeface="Bricolage Grotesque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68000" y="4037468"/>
            <a:ext cx="6466034" cy="4778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442"/>
              </a:lnSpc>
            </a:pPr>
            <a:r>
              <a:rPr lang="es-AR" sz="2400" spc="-20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Sistema de </a:t>
            </a:r>
            <a:r>
              <a:rPr lang="es-AR" sz="2400" spc="-206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</a:t>
            </a:r>
            <a:r>
              <a:rPr lang="es-AR" sz="2400" spc="-206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coring</a:t>
            </a:r>
            <a:endParaRPr lang="es-AR" sz="2400" spc="-206" noProof="0" dirty="0">
              <a:solidFill>
                <a:srgbClr val="FFFFFF"/>
              </a:solidFill>
              <a:latin typeface="+mj-lt"/>
              <a:ea typeface="Bricolage Grotesque Medium"/>
              <a:cs typeface="Bricolage Grotesque Medium"/>
              <a:sym typeface="Bricolage Grotesque Medium"/>
            </a:endParaRPr>
          </a:p>
          <a:p>
            <a:pPr marL="0" lvl="0" indent="0" algn="l">
              <a:lnSpc>
                <a:spcPts val="5442"/>
              </a:lnSpc>
            </a:pPr>
            <a:r>
              <a:rPr lang="es-AR" sz="2400" spc="-20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Score inicial: 100 puntos</a:t>
            </a:r>
          </a:p>
          <a:p>
            <a:pPr marL="0" lvl="0" indent="0" algn="l">
              <a:lnSpc>
                <a:spcPts val="5442"/>
              </a:lnSpc>
            </a:pPr>
            <a:r>
              <a:rPr lang="es-AR" sz="2400" spc="-20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— Precio fuera de presupuesto: −40</a:t>
            </a:r>
          </a:p>
          <a:p>
            <a:pPr marL="0" lvl="0" indent="0" algn="l">
              <a:lnSpc>
                <a:spcPts val="5442"/>
              </a:lnSpc>
            </a:pPr>
            <a:r>
              <a:rPr lang="es-AR" sz="2400" spc="-20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— Escalas excedidas: −20</a:t>
            </a:r>
          </a:p>
          <a:p>
            <a:pPr marL="0" lvl="0" indent="0" algn="l">
              <a:lnSpc>
                <a:spcPts val="5442"/>
              </a:lnSpc>
            </a:pPr>
            <a:r>
              <a:rPr lang="es-AR" sz="2400" spc="-20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— Duración excesiva: −30</a:t>
            </a:r>
          </a:p>
          <a:p>
            <a:pPr marL="0" lvl="0" indent="0" algn="l">
              <a:lnSpc>
                <a:spcPts val="5442"/>
              </a:lnSpc>
            </a:pPr>
            <a:r>
              <a:rPr lang="es-AR" sz="2400" spc="-20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Score ≥ 75 → alerta vía </a:t>
            </a:r>
            <a:r>
              <a:rPr lang="es-AR" sz="2400" spc="-206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T</a:t>
            </a:r>
            <a:r>
              <a:rPr lang="es-AR" sz="2400" spc="-206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elegram</a:t>
            </a:r>
            <a:endParaRPr lang="es-AR" sz="2400" spc="-206" noProof="0" dirty="0">
              <a:solidFill>
                <a:srgbClr val="FFFFFF"/>
              </a:solidFill>
              <a:latin typeface="+mj-lt"/>
              <a:ea typeface="Bricolage Grotesque Medium"/>
              <a:cs typeface="Bricolage Grotesque Medium"/>
              <a:sym typeface="Bricolage Grotesque Medium"/>
            </a:endParaRPr>
          </a:p>
          <a:p>
            <a:pPr marL="0" lvl="0" indent="0" algn="l">
              <a:lnSpc>
                <a:spcPts val="5442"/>
              </a:lnSpc>
            </a:pPr>
            <a:r>
              <a:rPr lang="es-AR" sz="2400" spc="-206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Score &lt; 75 → solo registro histórico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1BAEF04A-0DE3-1A24-6FF8-733432DD2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4584" y="266700"/>
            <a:ext cx="5726770" cy="3126235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 flipV="1">
            <a:off x="8382000" y="1028700"/>
            <a:ext cx="0" cy="822960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 noProof="0" dirty="0"/>
          </a:p>
        </p:txBody>
      </p:sp>
      <p:grpSp>
        <p:nvGrpSpPr>
          <p:cNvPr id="4" name="Group 4"/>
          <p:cNvGrpSpPr/>
          <p:nvPr/>
        </p:nvGrpSpPr>
        <p:grpSpPr>
          <a:xfrm>
            <a:off x="9281790" y="2305775"/>
            <a:ext cx="5327939" cy="5809919"/>
            <a:chOff x="0" y="0"/>
            <a:chExt cx="531947" cy="10112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1947" cy="1011261"/>
            </a:xfrm>
            <a:custGeom>
              <a:avLst/>
              <a:gdLst/>
              <a:ahLst/>
              <a:cxnLst/>
              <a:rect l="l" t="t" r="r" b="b"/>
              <a:pathLst>
                <a:path w="531947" h="1011261">
                  <a:moveTo>
                    <a:pt x="0" y="0"/>
                  </a:moveTo>
                  <a:lnTo>
                    <a:pt x="531947" y="0"/>
                  </a:lnTo>
                  <a:lnTo>
                    <a:pt x="531947" y="1011261"/>
                  </a:lnTo>
                  <a:lnTo>
                    <a:pt x="0" y="1011261"/>
                  </a:lnTo>
                  <a:close/>
                </a:path>
              </a:pathLst>
            </a:custGeom>
            <a:blipFill>
              <a:blip r:embed="rId4"/>
              <a:stretch>
                <a:fillRect t="-804" r="-64189" b="-804"/>
              </a:stretch>
            </a:blipFill>
          </p:spPr>
          <p:txBody>
            <a:bodyPr/>
            <a:lstStyle/>
            <a:p>
              <a:endParaRPr lang="es-AR" noProof="0" dirty="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841244" y="2305382"/>
            <a:ext cx="6854953" cy="5505118"/>
          </a:xfrm>
          <a:custGeom>
            <a:avLst/>
            <a:gdLst/>
            <a:ahLst/>
            <a:cxnLst/>
            <a:rect l="l" t="t" r="r" b="b"/>
            <a:pathLst>
              <a:path w="4640404" h="4390982">
                <a:moveTo>
                  <a:pt x="0" y="0"/>
                </a:moveTo>
                <a:lnTo>
                  <a:pt x="4640404" y="0"/>
                </a:lnTo>
                <a:lnTo>
                  <a:pt x="4640404" y="4390983"/>
                </a:lnTo>
                <a:lnTo>
                  <a:pt x="0" y="439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1726254" y="947586"/>
            <a:ext cx="3671450" cy="137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4"/>
              </a:lnSpc>
              <a:spcBef>
                <a:spcPts val="600"/>
              </a:spcBef>
              <a:spcAft>
                <a:spcPts val="600"/>
              </a:spcAft>
            </a:pPr>
            <a:r>
              <a:rPr lang="es-AR" sz="5440" b="1" spc="-288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IA</a:t>
            </a:r>
          </a:p>
          <a:p>
            <a:pPr marL="0" lvl="0" indent="0" algn="l">
              <a:lnSpc>
                <a:spcPts val="4624"/>
              </a:lnSpc>
              <a:spcBef>
                <a:spcPts val="600"/>
              </a:spcBef>
              <a:spcAft>
                <a:spcPts val="600"/>
              </a:spcAft>
            </a:pPr>
            <a:r>
              <a:rPr lang="es-AR" sz="5440" b="1" spc="-288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LOCAL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74720" y="979531"/>
            <a:ext cx="4200025" cy="137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4"/>
              </a:lnSpc>
              <a:spcBef>
                <a:spcPts val="600"/>
              </a:spcBef>
              <a:spcAft>
                <a:spcPts val="600"/>
              </a:spcAft>
            </a:pPr>
            <a:r>
              <a:rPr lang="es-AR" sz="5440" b="1" spc="-288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QWEN</a:t>
            </a:r>
          </a:p>
          <a:p>
            <a:pPr marL="0" lvl="0" indent="0" algn="l">
              <a:lnSpc>
                <a:spcPts val="4624"/>
              </a:lnSpc>
              <a:spcBef>
                <a:spcPts val="600"/>
              </a:spcBef>
              <a:spcAft>
                <a:spcPts val="600"/>
              </a:spcAft>
            </a:pPr>
            <a:r>
              <a:rPr lang="es-AR" sz="5440" b="1" spc="-288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2.5 7B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4025" y="8434586"/>
            <a:ext cx="7006256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</a:pPr>
            <a:r>
              <a:rPr lang="es-AR" sz="2000" spc="-95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✦ </a:t>
            </a:r>
            <a:r>
              <a:rPr lang="es-AR" sz="2000" spc="-84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Modelo de lenguaje ejecutado 100% de forma local mediante Ollama.</a:t>
            </a:r>
          </a:p>
          <a:p>
            <a:pPr lvl="0">
              <a:spcBef>
                <a:spcPts val="600"/>
              </a:spcBef>
            </a:pPr>
            <a:r>
              <a:rPr lang="es-AR" sz="2000" spc="-95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✦ </a:t>
            </a:r>
            <a:r>
              <a:rPr lang="es-AR" sz="2000" spc="-84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Sin dependencia de </a:t>
            </a:r>
            <a:r>
              <a:rPr lang="es-AR" sz="2000" spc="-84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A</a:t>
            </a:r>
            <a:r>
              <a:rPr lang="es-AR" sz="2000" spc="-84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pis externas. Sin costos por token. Sin límites de uso.</a:t>
            </a:r>
          </a:p>
          <a:p>
            <a:pPr lvl="0">
              <a:spcBef>
                <a:spcPts val="600"/>
              </a:spcBef>
            </a:pPr>
            <a:r>
              <a:rPr lang="es-AR" sz="2000" spc="-95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✦ </a:t>
            </a:r>
            <a:r>
              <a:rPr lang="es-AR" sz="2000" spc="-84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Genera explicaciones automáticas en lenguaje natural para cada alerta de vuelo enviada por </a:t>
            </a:r>
            <a:r>
              <a:rPr lang="es-AR" sz="2000" spc="-84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T</a:t>
            </a:r>
            <a:r>
              <a:rPr lang="es-AR" sz="2000" spc="-84" noProof="0" dirty="0" err="1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elegram</a:t>
            </a:r>
            <a:r>
              <a:rPr lang="es-AR" sz="2000" spc="-84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81790" y="8416542"/>
            <a:ext cx="5327939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</a:pPr>
            <a:r>
              <a:rPr lang="es-AR" sz="2000" spc="-95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✦ Privacidad total: los datos no salen del servidor local.</a:t>
            </a:r>
          </a:p>
          <a:p>
            <a:pPr marL="0" lvl="0" indent="0" algn="l">
              <a:spcBef>
                <a:spcPts val="600"/>
              </a:spcBef>
            </a:pPr>
            <a:r>
              <a:rPr lang="es-AR" sz="2000" spc="-95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✦ Costo cero por inferencia.</a:t>
            </a:r>
          </a:p>
          <a:p>
            <a:pPr marL="0" lvl="0" indent="0" algn="l">
              <a:spcBef>
                <a:spcPts val="600"/>
              </a:spcBef>
            </a:pPr>
            <a:r>
              <a:rPr lang="es-AR" sz="2000" spc="-95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✦ Integración nativa con n8n vía http.</a:t>
            </a:r>
          </a:p>
          <a:p>
            <a:pPr marL="0" lvl="0" indent="0" algn="l">
              <a:spcBef>
                <a:spcPts val="600"/>
              </a:spcBef>
            </a:pPr>
            <a:r>
              <a:rPr lang="es-AR" sz="2000" spc="-95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✦ Explicaciones contextuales y personalizadas por vuelo.</a:t>
            </a:r>
          </a:p>
        </p:txBody>
      </p:sp>
      <p:pic>
        <p:nvPicPr>
          <p:cNvPr id="1026" name="Picture 2" descr="Qué es Ollama y para qué sirve?">
            <a:extLst>
              <a:ext uri="{FF2B5EF4-FFF2-40B4-BE49-F238E27FC236}">
                <a16:creationId xmlns:a16="http://schemas.microsoft.com/office/drawing/2014/main" id="{4E07418F-5AEA-A2F1-412D-58EA3642D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272" y="874265"/>
            <a:ext cx="364807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677400" y="8961914"/>
            <a:ext cx="10994476" cy="1204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785"/>
              </a:lnSpc>
            </a:pPr>
            <a:r>
              <a:rPr lang="es-AR" sz="10335" b="1" spc="-547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GRACIAS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0" y="696885"/>
            <a:ext cx="6796324" cy="627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ts val="600"/>
              </a:spcBef>
              <a:spcAft>
                <a:spcPts val="600"/>
              </a:spcAft>
            </a:pPr>
            <a:r>
              <a:rPr lang="es-AR" sz="2038" spc="-40" noProof="0" dirty="0">
                <a:solidFill>
                  <a:srgbClr val="FFFFFF"/>
                </a:solidFill>
                <a:latin typeface="+mj-lt"/>
                <a:ea typeface="Bricolage Grotesque"/>
                <a:cs typeface="Bricolage Grotesque"/>
                <a:sym typeface="Bricolage Grotesque"/>
              </a:rPr>
              <a:t>TECNICATURA SUPERIOR EN CIENCIA DE DATOS E IA</a:t>
            </a:r>
            <a:br>
              <a:rPr lang="es-AR" sz="2038" spc="-40" noProof="0" dirty="0">
                <a:solidFill>
                  <a:srgbClr val="FFFFFF"/>
                </a:solidFill>
                <a:latin typeface="+mj-lt"/>
                <a:ea typeface="Bricolage Grotesque"/>
                <a:cs typeface="Bricolage Grotesque"/>
                <a:sym typeface="Bricolage Grotesque"/>
              </a:rPr>
            </a:br>
            <a:r>
              <a:rPr lang="es-AR" sz="2038" spc="-40" noProof="0" dirty="0">
                <a:solidFill>
                  <a:srgbClr val="FFFFFF"/>
                </a:solidFill>
                <a:latin typeface="+mj-lt"/>
                <a:ea typeface="Bricolage Grotesque"/>
                <a:cs typeface="Bricolage Grotesque"/>
                <a:sym typeface="Bricolage Grotesque"/>
              </a:rPr>
              <a:t> SEMINARIO DE ACTUALIZACIÓN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0" y="876300"/>
            <a:ext cx="2772506" cy="681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ts val="600"/>
              </a:spcBef>
              <a:spcAft>
                <a:spcPts val="600"/>
              </a:spcAft>
            </a:pPr>
            <a:r>
              <a:rPr lang="es-AR" sz="2213" b="1" spc="-117" noProof="0" dirty="0">
                <a:solidFill>
                  <a:srgbClr val="FFFFFF"/>
                </a:solidFill>
                <a:latin typeface="+mj-lt"/>
                <a:ea typeface="Bricolage Grotesque Medium"/>
                <a:cs typeface="Bricolage Grotesque Medium"/>
                <a:sym typeface="Bricolage Grotesque Medium"/>
              </a:rPr>
              <a:t>SMARTFARE</a:t>
            </a:r>
            <a:r>
              <a:rPr lang="es-AR" sz="2213" b="1" spc="-117" noProof="0" dirty="0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 TRACKER N8N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9812622-2882-6F15-0795-31057D714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854" y="2552700"/>
            <a:ext cx="4724400" cy="496997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EA5038F-A24C-C7F1-D58D-0B5F5A2D3D18}"/>
              </a:ext>
            </a:extLst>
          </p:cNvPr>
          <p:cNvSpPr txBox="1"/>
          <p:nvPr/>
        </p:nvSpPr>
        <p:spPr>
          <a:xfrm>
            <a:off x="6324600" y="7487755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u="sng" dirty="0">
                <a:solidFill>
                  <a:schemeClr val="bg1"/>
                </a:solidFill>
              </a:rPr>
              <a:t>https://github.com/rAmIro-89/smartfare-tracker-n8n.git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06E47A1-9E95-3791-CBAF-1763295F4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689355"/>
            <a:ext cx="5103654" cy="8459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698</Words>
  <Application>Microsoft Office PowerPoint</Application>
  <PresentationFormat>Personalizado</PresentationFormat>
  <Paragraphs>79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Bricolage Grotesque Medium</vt:lpstr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SmartFare Tracker: Monitoreo 24/7 de vuelos</dc:title>
  <dc:creator>Ramiro</dc:creator>
  <cp:lastModifiedBy>VESPA DANIELA PAULA</cp:lastModifiedBy>
  <cp:revision>14</cp:revision>
  <dcterms:created xsi:type="dcterms:W3CDTF">2006-08-16T00:00:00Z</dcterms:created>
  <dcterms:modified xsi:type="dcterms:W3CDTF">2026-06-04T20:08:17Z</dcterms:modified>
  <dc:identifier>DAHLk-DQo04</dc:identifier>
</cp:coreProperties>
</file>